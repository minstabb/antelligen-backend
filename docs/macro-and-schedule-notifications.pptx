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88952" cy="246888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33172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거시 경제 현황판 + 경제일정 알림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15468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BC4FF"/>
                </a:solidFill>
              </a:rPr>
              <a:t>Macro Dashboard  ·  Schedule Notifications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79476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8D4F0"/>
                </a:solidFill>
              </a:rPr>
              <a:t>Antelligen Backend — 두 핵심 사용자 기능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8D4F0"/>
                </a:solidFill>
              </a:rPr>
              <a:t>2026.04 · Antelligen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두 기능 한 눈에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4F0"/>
                </a:solidFill>
              </a:rPr>
              <a:t>역할 분담과 공유 데이터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486400" cy="2926080"/>
          </a:xfrm>
          <a:prstGeom prst="rect">
            <a:avLst/>
          </a:prstGeom>
          <a:solidFill>
            <a:srgbClr val="163E75"/>
          </a:solidFill>
          <a:ln w="25400">
            <a:solidFill>
              <a:srgbClr val="5B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486400" cy="50292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5"/>
                </a:solidFill>
              </a:rPr>
              <a:t>거시 경제 현황판  /  macro 도메인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</a:rPr>
              <a:t>• Risk-on / Risk-off 즉시 응답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• 일 1회 LLM 갱신 (01:00 KST)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• 메모리 + Redis 25h 캐시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• 학습 노트 + YouTube + 월가 IB 페르소나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• contextual + baseline 듀얼 판단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005840"/>
            <a:ext cx="5486400" cy="2926080"/>
          </a:xfrm>
          <a:prstGeom prst="rect">
            <a:avLst/>
          </a:prstGeom>
          <a:solidFill>
            <a:srgbClr val="163E75"/>
          </a:solidFill>
          <a:ln w="25400">
            <a:solidFill>
              <a:srgbClr val="FAB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005840"/>
            <a:ext cx="5486400" cy="50292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07899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5"/>
                </a:solidFill>
              </a:rPr>
              <a:t>경제일정 알림  /  schedule 도메인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64592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</a:rPr>
              <a:t>• LLM 영향 분석 저장 시 알림 발사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• DB 기록 + SSE 실시간 푸시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• 읽음 상태 (단건 / 전체) 관리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• FOMC collapse + (M/D) suffix 라벨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• 분석 입력에 매크로 지표 13종 주입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114800"/>
            <a:ext cx="11475720" cy="502920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206240"/>
            <a:ext cx="11475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공유 데이터: 매크로 지표 스냅샷 13종 (금리·유가·환율·VIX·DXY·지수·금)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800600"/>
            <a:ext cx="3703320" cy="1691640"/>
          </a:xfrm>
          <a:prstGeom prst="rect">
            <a:avLst/>
          </a:prstGeom>
          <a:solidFill>
            <a:srgbClr val="1A4885"/>
          </a:solidFill>
          <a:ln w="254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800600"/>
            <a:ext cx="3703320" cy="36576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84632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일관된 시장 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2120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• 거시 현황의 contextual 판단과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• 경제일정 영향 분석이 같은 데이터로 강화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15384" y="4800600"/>
            <a:ext cx="3703320" cy="1691640"/>
          </a:xfrm>
          <a:prstGeom prst="rect">
            <a:avLst/>
          </a:prstGeom>
          <a:solidFill>
            <a:srgbClr val="1A4885"/>
          </a:solidFill>
          <a:ln w="2540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15384" y="4800600"/>
            <a:ext cx="3703320" cy="36576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52544" y="484632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빠른 응답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52120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• LLM 호출은 백그라운드/캐시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• 사용자 응답은 캐시 hit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65008" y="4800600"/>
            <a:ext cx="3703320" cy="1691640"/>
          </a:xfrm>
          <a:prstGeom prst="rect">
            <a:avLst/>
          </a:prstGeom>
          <a:solidFill>
            <a:srgbClr val="1A4885"/>
          </a:solidFill>
          <a:ln w="25400">
            <a:solidFill>
              <a:srgbClr val="CBA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65008" y="4800600"/>
            <a:ext cx="3703320" cy="365760"/>
          </a:xfrm>
          <a:prstGeom prst="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02168" y="484632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실시간 알림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52120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• SSE 스트림으로 분석 완료 즉시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• 프론트 종모양 UI 갱신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거시 경제 현황판 — 데이터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4F0"/>
                </a:solidFill>
              </a:rPr>
              <a:t>APScheduler → LLM 듀얼 판단 → 캐시 → 즉시 응답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783080" cy="100584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1783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2B55"/>
                </a:solidFill>
              </a:rPr>
              <a:t>APScheduler</a:t>
            </a:r>
          </a:p>
          <a:p>
            <a:pPr algn="ctr"/>
            <a:r>
              <a:rPr sz="1200" b="1">
                <a:solidFill>
                  <a:srgbClr val="0D2B55"/>
                </a:solidFill>
              </a:rPr>
              <a:t>01:00 daily</a:t>
            </a:r>
          </a:p>
        </p:txBody>
      </p:sp>
      <p:sp>
        <p:nvSpPr>
          <p:cNvPr id="7" name="Rectangle 6"/>
          <p:cNvSpPr/>
          <p:nvPr/>
        </p:nvSpPr>
        <p:spPr>
          <a:xfrm>
            <a:off x="2331720" y="1188720"/>
            <a:ext cx="1783080" cy="100584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1720" y="1325880"/>
            <a:ext cx="1783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2B55"/>
                </a:solidFill>
              </a:rPr>
              <a:t>Judge</a:t>
            </a:r>
          </a:p>
          <a:p>
            <a:pPr algn="ctr"/>
            <a:r>
              <a:rPr sz="1200" b="1">
                <a:solidFill>
                  <a:srgbClr val="0D2B55"/>
                </a:solidFill>
              </a:rPr>
              <a:t>UseCase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79" y="1188720"/>
            <a:ext cx="1783080" cy="100584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79" y="1325880"/>
            <a:ext cx="1783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2B55"/>
                </a:solidFill>
              </a:rPr>
              <a:t>Sources</a:t>
            </a:r>
          </a:p>
          <a:p>
            <a:pPr algn="ctr"/>
            <a:r>
              <a:rPr sz="1200" b="1">
                <a:solidFill>
                  <a:srgbClr val="0D2B55"/>
                </a:solidFill>
              </a:rPr>
              <a:t>(노트·YT·LLM)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188720"/>
            <a:ext cx="1783080" cy="100584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1783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2B55"/>
                </a:solidFill>
              </a:rPr>
              <a:t>Snapshot</a:t>
            </a:r>
          </a:p>
          <a:p>
            <a:pPr algn="ctr"/>
            <a:r>
              <a:rPr sz="1200" b="1">
                <a:solidFill>
                  <a:srgbClr val="0D2B55"/>
                </a:solidFill>
              </a:rPr>
              <a:t>Store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188720"/>
            <a:ext cx="1783080" cy="1005840"/>
          </a:xfrm>
          <a:prstGeom prst="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325880"/>
            <a:ext cx="1783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2B55"/>
                </a:solidFill>
              </a:rPr>
              <a:t>Memory +</a:t>
            </a:r>
          </a:p>
          <a:p>
            <a:pPr algn="ctr"/>
            <a:r>
              <a:rPr sz="1200" b="1">
                <a:solidFill>
                  <a:srgbClr val="0D2B55"/>
                </a:solidFill>
              </a:rPr>
              <a:t>Redis 25h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95560" y="1188720"/>
            <a:ext cx="1783080" cy="1005840"/>
          </a:xfrm>
          <a:prstGeom prst="rect">
            <a:avLst/>
          </a:prstGeom>
          <a:solidFill>
            <a:srgbClr val="94E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95560" y="1325880"/>
            <a:ext cx="1783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2B55"/>
                </a:solidFill>
              </a:rPr>
              <a:t>GET /macro/</a:t>
            </a:r>
          </a:p>
          <a:p>
            <a:pPr algn="ctr"/>
            <a:r>
              <a:rPr sz="1200" b="1">
                <a:solidFill>
                  <a:srgbClr val="0D2B55"/>
                </a:solidFill>
              </a:rPr>
              <a:t>market-risk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286000"/>
            <a:ext cx="11430000" cy="4572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606040"/>
            <a:ext cx="3703320" cy="2194560"/>
          </a:xfrm>
          <a:prstGeom prst="rect">
            <a:avLst/>
          </a:prstGeom>
          <a:solidFill>
            <a:srgbClr val="163E75"/>
          </a:solidFill>
          <a:ln w="254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606040"/>
            <a:ext cx="3703320" cy="45720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67004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학습 노트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15468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• StudyNoteFileReader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• 로컬 파일 시스템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• contextual 판단 근거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15384" y="2606040"/>
            <a:ext cx="3703320" cy="2194560"/>
          </a:xfrm>
          <a:prstGeom prst="rect">
            <a:avLst/>
          </a:prstGeom>
          <a:solidFill>
            <a:srgbClr val="163E75"/>
          </a:solidFill>
          <a:ln w="2540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15384" y="2606040"/>
            <a:ext cx="3703320" cy="45720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267004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YouTube 영상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98264" y="315468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• Antelligen 채널 최근 7일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• youtube_macro_video_client.py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• reference_videos 4건 노출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65008" y="2606040"/>
            <a:ext cx="3703320" cy="2194560"/>
          </a:xfrm>
          <a:prstGeom prst="rect">
            <a:avLst/>
          </a:prstGeom>
          <a:solidFill>
            <a:srgbClr val="163E75"/>
          </a:solidFill>
          <a:ln w="25400">
            <a:solidFill>
              <a:srgbClr val="FAB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65008" y="2606040"/>
            <a:ext cx="3703320" cy="45720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67004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OpenAI GPT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315468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• langchain_risk_judgement_adapter.py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• 월가 IB 페르소나 (GS · MS · JPM)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• contextual + baseline 듀얼 출력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029200"/>
            <a:ext cx="11475720" cy="1463040"/>
          </a:xfrm>
          <a:prstGeom prst="rect">
            <a:avLst/>
          </a:prstGeom>
          <a:solidFill>
            <a:srgbClr val="1A4885"/>
          </a:solidFill>
          <a:ln w="12700">
            <a:solidFill>
              <a:srgbClr val="5B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C4FF"/>
                </a:solidFill>
              </a:rPr>
              <a:t>캐시 전략 (Hot reload 안전)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440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✓ 메모리: MarketRiskSnapshotStore (스레드-세이프, 프로세스 싱글톤)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✓ Redis: TTL 25h — 프로세스 재시작 시 직전 스냅샷 복원 → YouTube/LLM 재호출 회피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✓ 사용자 응답은 캐시 hit 만 — LLM 호출은 매일 01:00 한 번뿐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거시 현황판 — 듀얼 판단 &amp; 응답 스키마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4F0"/>
                </a:solidFill>
              </a:rPr>
              <a:t>contextual + baseline / 출처 표기 일원화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852160" cy="2743200"/>
          </a:xfrm>
          <a:prstGeom prst="rect">
            <a:avLst/>
          </a:prstGeom>
          <a:solidFill>
            <a:srgbClr val="163E75"/>
          </a:solidFill>
          <a:ln w="25400">
            <a:solidFill>
              <a:srgbClr val="5B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C4FF"/>
                </a:solidFill>
              </a:rPr>
              <a:t>이중 판단 체계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2651760" cy="205740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2B55"/>
                </a:solidFill>
              </a:rPr>
              <a:t>Contextual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0D2B55"/>
                </a:solidFill>
              </a:rPr>
              <a:t>· 학습 노트 + YouTube</a:t>
            </a:r>
          </a:p>
          <a:p>
            <a:pPr algn="l"/>
            <a:r>
              <a:rPr sz="1000">
                <a:solidFill>
                  <a:srgbClr val="0D2B55"/>
                </a:solidFill>
              </a:rPr>
              <a:t>· RISK_ON / RISK_OFF / UNKNOWN</a:t>
            </a:r>
          </a:p>
          <a:p>
            <a:pPr algn="l"/>
            <a:r>
              <a:rPr sz="1000">
                <a:solidFill>
                  <a:srgbClr val="0D2B55"/>
                </a:solidFill>
              </a:rPr>
              <a:t>· 근거 3줄</a:t>
            </a:r>
          </a:p>
          <a:p>
            <a:pPr algn="l"/>
            <a:r>
              <a:rPr sz="1000">
                <a:solidFill>
                  <a:srgbClr val="0D2B55"/>
                </a:solidFill>
              </a:rPr>
              <a:t>· 프로젝트 컨텍스트 반영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600200"/>
            <a:ext cx="2651760" cy="205740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6916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2B55"/>
                </a:solidFill>
              </a:rPr>
              <a:t>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0312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0D2B55"/>
                </a:solidFill>
              </a:rPr>
              <a:t>· 월가 IB 페르소나</a:t>
            </a:r>
          </a:p>
          <a:p>
            <a:pPr algn="l"/>
            <a:r>
              <a:rPr sz="1000">
                <a:solidFill>
                  <a:srgbClr val="0D2B55"/>
                </a:solidFill>
              </a:rPr>
              <a:t>· GS · MS · JPM Research 톤</a:t>
            </a:r>
          </a:p>
          <a:p>
            <a:pPr algn="l"/>
            <a:r>
              <a:rPr sz="1000">
                <a:solidFill>
                  <a:srgbClr val="0D2B55"/>
                </a:solidFill>
              </a:rPr>
              <a:t>· 근거 3줄</a:t>
            </a:r>
          </a:p>
          <a:p>
            <a:pPr algn="l"/>
            <a:r>
              <a:rPr sz="1000">
                <a:solidFill>
                  <a:srgbClr val="0D2B55"/>
                </a:solidFill>
              </a:rPr>
              <a:t>· 일반 시장 컨센서스 판단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005840"/>
            <a:ext cx="5440680" cy="5212080"/>
          </a:xfrm>
          <a:prstGeom prst="rect">
            <a:avLst/>
          </a:prstGeom>
          <a:solidFill>
            <a:srgbClr val="163E75"/>
          </a:solidFill>
          <a:ln w="12700">
            <a:solidFill>
              <a:srgbClr val="2D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097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E2AF"/>
                </a:solidFill>
              </a:rPr>
              <a:t>MarketRiskJudgementResponse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1554480"/>
            <a:ext cx="5166360" cy="502920"/>
          </a:xfrm>
          <a:prstGeom prst="rect">
            <a:avLst/>
          </a:prstGeom>
          <a:solidFill>
            <a:srgbClr val="1A4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645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BC4FF"/>
                </a:solidFill>
              </a:rPr>
              <a:t>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16459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최종 판단 (RISK_ON/OFF/UNKNOWN)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2121408"/>
            <a:ext cx="5166360" cy="502920"/>
          </a:xfrm>
          <a:prstGeom prst="rect">
            <a:avLst/>
          </a:prstGeom>
          <a:solidFill>
            <a:srgbClr val="1A4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2128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BC4FF"/>
                </a:solidFill>
              </a:rPr>
              <a:t>contextual_status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21284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학습/영상 기반 판단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2688336"/>
            <a:ext cx="5166360" cy="502920"/>
          </a:xfrm>
          <a:prstGeom prst="rect">
            <a:avLst/>
          </a:prstGeom>
          <a:solidFill>
            <a:srgbClr val="1A4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7977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BC4FF"/>
                </a:solidFill>
              </a:rPr>
              <a:t>contextual_reasons[3]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77977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3줄 근거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3255264"/>
            <a:ext cx="5166360" cy="502920"/>
          </a:xfrm>
          <a:prstGeom prst="rect">
            <a:avLst/>
          </a:prstGeom>
          <a:solidFill>
            <a:srgbClr val="1A4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334670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BC4FF"/>
                </a:solidFill>
              </a:rPr>
              <a:t>baseline_status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334670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월가 페르소나 판단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37960" y="3822191"/>
            <a:ext cx="5166360" cy="502920"/>
          </a:xfrm>
          <a:prstGeom prst="rect">
            <a:avLst/>
          </a:prstGeom>
          <a:solidFill>
            <a:srgbClr val="1A4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3913631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BC4FF"/>
                </a:solidFill>
              </a:rPr>
              <a:t>baseline_reasons[3]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913631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3줄 근거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37960" y="4389120"/>
            <a:ext cx="5166360" cy="502920"/>
          </a:xfrm>
          <a:prstGeom prst="rect">
            <a:avLst/>
          </a:prstGeom>
          <a:solidFill>
            <a:srgbClr val="1A4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448055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BC4FF"/>
                </a:solidFill>
              </a:rPr>
              <a:t>reference_videos[]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4480559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id · title · published_at · url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37960" y="4956048"/>
            <a:ext cx="5166360" cy="502920"/>
          </a:xfrm>
          <a:prstGeom prst="rect">
            <a:avLst/>
          </a:prstGeom>
          <a:solidFill>
            <a:srgbClr val="1A4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50474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BC4FF"/>
                </a:solidFill>
              </a:rPr>
              <a:t>note_available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504748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학습 노트 보유 여부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37960" y="5522976"/>
            <a:ext cx="5166360" cy="502920"/>
          </a:xfrm>
          <a:prstGeom prst="rect">
            <a:avLst/>
          </a:prstGeom>
          <a:solidFill>
            <a:srgbClr val="1A4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561441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BC4FF"/>
                </a:solidFill>
              </a:rPr>
              <a:t>updated_at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561441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스냅샷 갱신 시각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931920"/>
            <a:ext cx="5852160" cy="2560320"/>
          </a:xfrm>
          <a:prstGeom prst="rect">
            <a:avLst/>
          </a:prstGeom>
          <a:solidFill>
            <a:srgbClr val="1A4885"/>
          </a:solidFill>
          <a:ln w="2540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4023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E2AF"/>
                </a:solidFill>
              </a:rPr>
              <a:t>출처 표기 일원화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43484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✓ 모든 응답을 'Antelligen AI 자체 분석'으로 표기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✓ 유튜브 채널명 · 영상명 · 외부 리서치 기관명 노출 금지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✓ 월가 IB 페르소나 · 한국어 존댓말로 일관 응답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✓ 프롬프트 규칙: langchain_risk_judgement_adapter.py:37-40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경제일정 알림 — 발생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4F0"/>
                </a:solidFill>
              </a:rPr>
              <a:t>분석 저장 → DB 기록 + SSE 푸시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75720" cy="548640"/>
          </a:xfrm>
          <a:prstGeom prst="rect">
            <a:avLst/>
          </a:prstGeom>
          <a:solidFill>
            <a:srgbClr val="1A4885"/>
          </a:solidFill>
          <a:ln w="12700">
            <a:solidFill>
              <a:srgbClr val="5B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C4FF"/>
                </a:solidFill>
              </a:rPr>
              <a:t>트리거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11556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POST /schedule/event-analysis/run     ·     GET /schedule/event-analysis (lazy)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2103120" cy="137160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2103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2B55"/>
                </a:solidFill>
              </a:rPr>
              <a:t>RunEvent</a:t>
            </a:r>
          </a:p>
          <a:p>
            <a:pPr algn="ctr"/>
            <a:r>
              <a:rPr sz="1200" b="1">
                <a:solidFill>
                  <a:srgbClr val="0D2B55"/>
                </a:solidFill>
              </a:rPr>
              <a:t>Analysis</a:t>
            </a:r>
          </a:p>
          <a:p>
            <a:pPr algn="ctr"/>
            <a:r>
              <a:rPr sz="1200" b="1">
                <a:solidFill>
                  <a:srgbClr val="0D2B55"/>
                </a:solidFill>
              </a:rPr>
              <a:t>UseCase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1828800"/>
            <a:ext cx="2103120" cy="137160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1965960"/>
            <a:ext cx="2103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2B55"/>
                </a:solidFill>
              </a:rPr>
              <a:t>매크로 지표</a:t>
            </a:r>
          </a:p>
          <a:p>
            <a:pPr algn="ctr"/>
            <a:r>
              <a:rPr sz="1200" b="1">
                <a:solidFill>
                  <a:srgbClr val="0D2B55"/>
                </a:solidFill>
              </a:rPr>
              <a:t>스냅샷 13종</a:t>
            </a:r>
          </a:p>
          <a:p>
            <a:pPr algn="ctr"/>
            <a:r>
              <a:rPr sz="1200" b="1">
                <a:solidFill>
                  <a:srgbClr val="0D2B55"/>
                </a:solidFill>
              </a:rPr>
              <a:t>(FRED+Yahoo)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1828800"/>
            <a:ext cx="2103120" cy="137160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1965960"/>
            <a:ext cx="2103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2B55"/>
                </a:solidFill>
              </a:rPr>
              <a:t>OpenAI</a:t>
            </a:r>
          </a:p>
          <a:p>
            <a:pPr algn="ctr"/>
            <a:r>
              <a:rPr sz="1200" b="1">
                <a:solidFill>
                  <a:srgbClr val="0D2B55"/>
                </a:solidFill>
              </a:rPr>
              <a:t>Event Impact</a:t>
            </a:r>
          </a:p>
          <a:p>
            <a:pPr algn="ctr"/>
            <a:r>
              <a:rPr sz="1200" b="1">
                <a:solidFill>
                  <a:srgbClr val="0D2B55"/>
                </a:solidFill>
              </a:rPr>
              <a:t>Analyzer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0" y="1828800"/>
            <a:ext cx="2103120" cy="137160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965960"/>
            <a:ext cx="2103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2B55"/>
                </a:solidFill>
              </a:rPr>
              <a:t>Schedule</a:t>
            </a:r>
          </a:p>
          <a:p>
            <a:pPr algn="ctr"/>
            <a:r>
              <a:rPr sz="1200" b="1">
                <a:solidFill>
                  <a:srgbClr val="0D2B55"/>
                </a:solidFill>
              </a:rPr>
              <a:t>Notification</a:t>
            </a:r>
          </a:p>
          <a:p>
            <a:pPr algn="ctr"/>
            <a:r>
              <a:rPr sz="1200" b="1">
                <a:solidFill>
                  <a:srgbClr val="0D2B55"/>
                </a:solidFill>
              </a:rPr>
              <a:t>Publisher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92640" y="1828800"/>
            <a:ext cx="2103120" cy="1371600"/>
          </a:xfrm>
          <a:prstGeom prst="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1965960"/>
            <a:ext cx="2103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2B55"/>
                </a:solidFill>
              </a:rPr>
              <a:t>DB INSERT</a:t>
            </a:r>
          </a:p>
          <a:p>
            <a:pPr algn="ctr"/>
            <a:r>
              <a:rPr sz="1200" b="1">
                <a:solidFill>
                  <a:srgbClr val="0D2B55"/>
                </a:solidFill>
              </a:rPr>
              <a:t>+</a:t>
            </a:r>
          </a:p>
          <a:p>
            <a:pPr algn="ctr"/>
            <a:r>
              <a:rPr sz="1200" b="1">
                <a:solidFill>
                  <a:srgbClr val="0D2B55"/>
                </a:solidFill>
              </a:rPr>
              <a:t>SSE Broadcast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83280"/>
            <a:ext cx="11064240" cy="4572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657600"/>
            <a:ext cx="11475720" cy="914400"/>
          </a:xfrm>
          <a:prstGeom prst="rect">
            <a:avLst/>
          </a:prstGeom>
          <a:solidFill>
            <a:srgbClr val="163E75"/>
          </a:solidFill>
          <a:ln w="254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657600"/>
            <a:ext cx="164592" cy="91440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490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6E3A1"/>
                </a:solidFill>
              </a:rPr>
              <a:t>DB INSERT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384048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schedule_notifications row 영구 보관 → GET /schedule/notifications 로 목록 조회 가능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709160"/>
            <a:ext cx="11475720" cy="914400"/>
          </a:xfrm>
          <a:prstGeom prst="rect">
            <a:avLst/>
          </a:prstGeom>
          <a:solidFill>
            <a:srgbClr val="163E75"/>
          </a:solidFill>
          <a:ln w="25400">
            <a:solidFill>
              <a:srgbClr val="CBA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709160"/>
            <a:ext cx="164592" cy="914400"/>
          </a:xfrm>
          <a:prstGeom prst="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800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BA6F7"/>
                </a:solidFill>
              </a:rPr>
              <a:t>SSE Broadcast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489204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asyncio.Queue 기반 pub/sub → GET /schedule/notifications/stream 구독자에 즉시 fan-out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760720"/>
            <a:ext cx="11475720" cy="777240"/>
          </a:xfrm>
          <a:prstGeom prst="rect">
            <a:avLst/>
          </a:prstGeom>
          <a:solidFill>
            <a:srgbClr val="1A4885"/>
          </a:solidFill>
          <a:ln w="1270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943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9E2AF"/>
                </a:solidFill>
              </a:rPr>
              <a:t>✓ 저장과 푸시는 분리 — DB INSERT 실패해도 SSE 브로드캐스트는 최선 노력으로 수행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경제일정 알림 — 스키마 &amp;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4F0"/>
                </a:solidFill>
              </a:rPr>
              <a:t>schedule_notifications 테이블과 4종 엔드포인트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852160" cy="5349240"/>
          </a:xfrm>
          <a:prstGeom prst="rect">
            <a:avLst/>
          </a:prstGeom>
          <a:solidFill>
            <a:srgbClr val="163E75"/>
          </a:solidFill>
          <a:ln w="12700">
            <a:solidFill>
              <a:srgbClr val="2D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C4FF"/>
                </a:solidFill>
              </a:rPr>
              <a:t>schedule_notifications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8D4F0"/>
                </a:solidFill>
              </a:rPr>
              <a:t>schedule_notification_orm.py:9-28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5577840" cy="411480"/>
          </a:xfrm>
          <a:prstGeom prst="rect">
            <a:avLst/>
          </a:prstGeom>
          <a:solidFill>
            <a:srgbClr val="1A4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92807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BC4FF"/>
                </a:solidFill>
              </a:rPr>
              <a:t>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901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PK / autoincrement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286000"/>
            <a:ext cx="5577840" cy="411480"/>
          </a:xfrm>
          <a:prstGeom prst="rect">
            <a:avLst/>
          </a:prstGeom>
          <a:solidFill>
            <a:srgbClr val="1A4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500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6E3A1"/>
                </a:solidFill>
              </a:rPr>
              <a:t>event_id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3591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FK → economic_events.id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743200"/>
            <a:ext cx="5577840" cy="411480"/>
          </a:xfrm>
          <a:prstGeom prst="rect">
            <a:avLst/>
          </a:prstGeom>
          <a:solidFill>
            <a:srgbClr val="1A4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8072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event_title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28163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VARCHAR(255) — 일정 제목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200400"/>
            <a:ext cx="5577840" cy="411480"/>
          </a:xfrm>
          <a:prstGeom prst="rect">
            <a:avLst/>
          </a:prstGeom>
          <a:solidFill>
            <a:srgbClr val="1A4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2644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analysis_id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2735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FK nullable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657600"/>
            <a:ext cx="5577840" cy="411480"/>
          </a:xfrm>
          <a:prstGeom prst="rect">
            <a:avLst/>
          </a:prstGeom>
          <a:solidFill>
            <a:srgbClr val="1A4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7216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success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37307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BOOLEAN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114800"/>
            <a:ext cx="5577840" cy="411480"/>
          </a:xfrm>
          <a:prstGeom prst="rect">
            <a:avLst/>
          </a:prstGeom>
          <a:solidFill>
            <a:srgbClr val="1A4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1788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stored_at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4187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DATETIME — 분석 저장 시각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572000"/>
            <a:ext cx="5577840" cy="411480"/>
          </a:xfrm>
          <a:prstGeom prst="rect">
            <a:avLst/>
          </a:prstGeom>
          <a:solidFill>
            <a:srgbClr val="1A4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6360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8BA8"/>
                </a:solidFill>
              </a:rPr>
              <a:t>error_message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46451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TEXT — 실패 메시지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029200"/>
            <a:ext cx="5577840" cy="411480"/>
          </a:xfrm>
          <a:prstGeom prst="rect">
            <a:avLst/>
          </a:prstGeom>
          <a:solidFill>
            <a:srgbClr val="1A4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0932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E2AF"/>
                </a:solidFill>
              </a:rPr>
              <a:t>read_at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31720" y="51023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DATETIME nullable — 읽음 시각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486400"/>
            <a:ext cx="5577840" cy="411480"/>
          </a:xfrm>
          <a:prstGeom prst="rect">
            <a:avLst/>
          </a:prstGeom>
          <a:solidFill>
            <a:srgbClr val="1A4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55504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created_at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55595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DATETIME — 알림 생성 시각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989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8D4F0"/>
                </a:solidFill>
              </a:rPr>
              <a:t>INDEX  (read_at, created_at) · (event_id)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1005840"/>
            <a:ext cx="5440680" cy="5349240"/>
          </a:xfrm>
          <a:prstGeom prst="rect">
            <a:avLst/>
          </a:prstGeom>
          <a:solidFill>
            <a:srgbClr val="163E75"/>
          </a:solidFill>
          <a:ln w="12700">
            <a:solidFill>
              <a:srgbClr val="2D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1097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AB387"/>
                </a:solidFill>
              </a:rPr>
              <a:t>API 엔드포인트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37960" y="1554480"/>
            <a:ext cx="5166360" cy="1051560"/>
          </a:xfrm>
          <a:prstGeom prst="rect">
            <a:avLst/>
          </a:prstGeom>
          <a:solidFill>
            <a:srgbClr val="1A4885"/>
          </a:solidFill>
          <a:ln w="254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37960" y="1554480"/>
            <a:ext cx="640080" cy="105156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60" y="1920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B55"/>
                </a:solidFill>
              </a:rPr>
              <a:t>GET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9480" y="16459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/schedule/notifications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69480" y="20574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D4F0"/>
                </a:solidFill>
              </a:rPr>
              <a:t>목록 (limit, unread_only)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37960" y="2715768"/>
            <a:ext cx="5166360" cy="1051560"/>
          </a:xfrm>
          <a:prstGeom prst="rect">
            <a:avLst/>
          </a:prstGeom>
          <a:solidFill>
            <a:srgbClr val="1A4885"/>
          </a:solidFill>
          <a:ln w="2540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37960" y="2715768"/>
            <a:ext cx="640080" cy="105156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3081527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B55"/>
                </a:solidFill>
              </a:rPr>
              <a:t>POST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69480" y="2807208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/schedule/notifications/{id}/read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69480" y="3218687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D4F0"/>
                </a:solidFill>
              </a:rPr>
              <a:t>개별 읽음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37960" y="3877056"/>
            <a:ext cx="5166360" cy="1051560"/>
          </a:xfrm>
          <a:prstGeom prst="rect">
            <a:avLst/>
          </a:prstGeom>
          <a:solidFill>
            <a:srgbClr val="1A4885"/>
          </a:solidFill>
          <a:ln w="2540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537960" y="3877056"/>
            <a:ext cx="640080" cy="105156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37960" y="4242816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B55"/>
                </a:solidFill>
              </a:rPr>
              <a:t>POST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69480" y="3968496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/schedule/notifications/read-all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69480" y="4379976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D4F0"/>
                </a:solidFill>
              </a:rPr>
              <a:t>전체 읽음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37960" y="5038344"/>
            <a:ext cx="5166360" cy="1051560"/>
          </a:xfrm>
          <a:prstGeom prst="rect">
            <a:avLst/>
          </a:prstGeom>
          <a:solidFill>
            <a:srgbClr val="1A4885"/>
          </a:solidFill>
          <a:ln w="25400">
            <a:solidFill>
              <a:srgbClr val="CBA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537960" y="5038344"/>
            <a:ext cx="640080" cy="1051560"/>
          </a:xfrm>
          <a:prstGeom prst="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37960" y="5404104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B55"/>
                </a:solidFill>
              </a:rPr>
              <a:t>GET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69480" y="5129783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/schedule/notifications/stream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69480" y="5541264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D4F0"/>
                </a:solidFill>
              </a:rPr>
              <a:t>SSE 실시간 구독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SSE 실시간 푸시 — Broadcaster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4F0"/>
                </a:solidFill>
              </a:rPr>
              <a:t>asyncio.Queue 기반 인-프로세스 pub/sub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017520" cy="146304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2B55"/>
                </a:solidFill>
              </a:rPr>
              <a:t>Publisher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2B55"/>
                </a:solidFill>
              </a:rPr>
              <a:t>publish(payload)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0D2B55"/>
                </a:solidFill>
              </a:rPr>
              <a:t>RunEventAnalysis 끝 시점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914400"/>
            <a:ext cx="4297680" cy="2103120"/>
          </a:xfrm>
          <a:prstGeom prst="rect">
            <a:avLst/>
          </a:prstGeom>
          <a:solidFill>
            <a:srgbClr val="3A59D1"/>
          </a:solidFill>
          <a:ln w="38100">
            <a:solidFill>
              <a:srgbClr val="5B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10515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NotificationBroadcaster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41732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BC4FF"/>
                </a:solidFill>
              </a:rPr>
              <a:t>(싱글톤)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783080"/>
            <a:ext cx="4023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• asyncio.Queue 리스트 보관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• publish() = fan-out to all queues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• subscribe() = 새 큐 등록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1005840"/>
            <a:ext cx="3108960" cy="77724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1234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B55"/>
                </a:solidFill>
              </a:rPr>
              <a:t>Subscriber 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920240"/>
            <a:ext cx="3108960" cy="77724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2148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B55"/>
                </a:solidFill>
              </a:rPr>
              <a:t>Subscriber 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2834640"/>
            <a:ext cx="3108960" cy="77724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3063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2B55"/>
                </a:solidFill>
              </a:rPr>
              <a:t>Subscriber 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20440" y="1920240"/>
            <a:ext cx="36576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75320" y="1417320"/>
            <a:ext cx="36576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75320" y="2331720"/>
            <a:ext cx="36576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75320" y="3246120"/>
            <a:ext cx="36576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023360"/>
            <a:ext cx="5669280" cy="2468880"/>
          </a:xfrm>
          <a:prstGeom prst="rect">
            <a:avLst/>
          </a:prstGeom>
          <a:solidFill>
            <a:srgbClr val="163E75"/>
          </a:solidFill>
          <a:ln w="25400">
            <a:solidFill>
              <a:srgbClr val="CBA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1148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BA6F7"/>
                </a:solidFill>
              </a:rPr>
              <a:t>페이로드 (JSON)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52628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• id · event_id · event_title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• success (분석 성공/실패)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• stored_at (분석 저장 시각)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• read_at (읽음 시각, nullable)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• error_message (실패 시)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4023360"/>
            <a:ext cx="5669280" cy="2468880"/>
          </a:xfrm>
          <a:prstGeom prst="rect">
            <a:avLst/>
          </a:prstGeom>
          <a:solidFill>
            <a:srgbClr val="163E75"/>
          </a:solidFill>
          <a:ln w="2540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41148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E2AF"/>
                </a:solidFill>
              </a:rPr>
              <a:t>운영 주의사항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52628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⚠ Keepalive: 30초마다 ': keep-alive\n\n'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⚠ 단일 프로세스 메모리 기반 pub/sub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⚠ uvicorn 워커 ≥ 2면 워커 간 공유 ❌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⚠ 멀티 워커 필요 시 Redis Pub/Sub 등으로 교체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두 기능의 협력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4F0"/>
                </a:solidFill>
              </a:rPr>
              <a:t>매크로 지표 스냅샷 13종 공유 → 일관된 시장 톤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75720" cy="1554480"/>
          </a:xfrm>
          <a:prstGeom prst="rect">
            <a:avLst/>
          </a:prstGeom>
          <a:solidFill>
            <a:srgbClr val="163E75"/>
          </a:solidFill>
          <a:ln w="25400">
            <a:solidFill>
              <a:srgbClr val="5B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228600" cy="155448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C4FF"/>
                </a:solidFill>
              </a:rPr>
              <a:t>거시 경제 현황판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• 학습 노트 + YouTube + LLM → Risk-on / Risk-off 판단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• 매크로 지표 13종 스냅샷 (FRED 1순위, Yahoo 폴백)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• 메모리 + Redis 25h 캐시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2697480"/>
            <a:ext cx="228600" cy="36576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2743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BC4FF"/>
                </a:solidFill>
              </a:rPr>
              <a:t>▼  공유  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00400"/>
            <a:ext cx="11475720" cy="1554480"/>
          </a:xfrm>
          <a:prstGeom prst="rect">
            <a:avLst/>
          </a:prstGeom>
          <a:solidFill>
            <a:srgbClr val="163E75"/>
          </a:solidFill>
          <a:ln w="25400">
            <a:solidFill>
              <a:srgbClr val="FAB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200400"/>
            <a:ext cx="228600" cy="155448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337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AB387"/>
                </a:solidFill>
              </a:rPr>
              <a:t>경제일정 알림 — 영향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49039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FFFFF"/>
                </a:solidFill>
              </a:rPr>
              <a:t>• 같은 13종 지표를 OpenAIEventImpactAnalyzer 프롬프트에 주입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• 이 매크로 환경 하에서 일정의 direction · key_drivers · risks 산출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• 분석 완료 후 Publisher → DB INSERT + SSE Broadcast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983480"/>
            <a:ext cx="11475720" cy="1508760"/>
          </a:xfrm>
          <a:prstGeom prst="rect">
            <a:avLst/>
          </a:prstGeom>
          <a:solidFill>
            <a:srgbClr val="1A4885"/>
          </a:solidFill>
          <a:ln w="254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0749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6E3A1"/>
                </a:solidFill>
              </a:rPr>
              <a:t>공유 매크로 지표 13종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486400"/>
            <a:ext cx="1508760" cy="36576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53212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2B55"/>
                </a:solidFill>
              </a:rPr>
              <a:t>DGS10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30552" y="5486400"/>
            <a:ext cx="1508760" cy="36576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30552" y="553212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2B55"/>
                </a:solidFill>
              </a:rPr>
              <a:t>US_T2Y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58184" y="5486400"/>
            <a:ext cx="1508760" cy="36576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58184" y="553212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2B55"/>
                </a:solidFill>
              </a:rPr>
              <a:t>US_T20Y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85816" y="5486400"/>
            <a:ext cx="1508760" cy="36576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85816" y="553212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2B55"/>
                </a:solidFill>
              </a:rPr>
              <a:t>WTI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13448" y="5486400"/>
            <a:ext cx="1508760" cy="36576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13448" y="553212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2B55"/>
                </a:solidFill>
              </a:rPr>
              <a:t>GOLD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41080" y="5486400"/>
            <a:ext cx="1508760" cy="36576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41080" y="553212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2B55"/>
                </a:solidFill>
              </a:rPr>
              <a:t>USD/KRW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268712" y="5486400"/>
            <a:ext cx="1508760" cy="36576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68712" y="553212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2B55"/>
                </a:solidFill>
              </a:rPr>
              <a:t>USD/JPY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943600"/>
            <a:ext cx="1508760" cy="36576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98932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2B55"/>
                </a:solidFill>
              </a:rPr>
              <a:t>DXY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30552" y="5943600"/>
            <a:ext cx="1508760" cy="36576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30552" y="598932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2B55"/>
                </a:solidFill>
              </a:rPr>
              <a:t>VIX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58184" y="5943600"/>
            <a:ext cx="1508760" cy="36576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58184" y="598932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2B55"/>
                </a:solidFill>
              </a:rPr>
              <a:t>S&amp;P 500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85816" y="5943600"/>
            <a:ext cx="1508760" cy="36576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85816" y="598932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2B55"/>
                </a:solidFill>
              </a:rPr>
              <a:t>NASDAQ 100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13448" y="5943600"/>
            <a:ext cx="1508760" cy="36576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13448" y="598932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2B55"/>
                </a:solidFill>
              </a:rPr>
              <a:t>KOSPI 200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41080" y="5943600"/>
            <a:ext cx="1508760" cy="36576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41080" y="598932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2B55"/>
                </a:solidFill>
              </a:rPr>
              <a:t>FRED+Yahoo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운영 메모 &amp;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4F0"/>
                </a:solidFill>
              </a:rPr>
              <a:t>Operations · Key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7315200" cy="3657600"/>
          </a:xfrm>
          <a:prstGeom prst="rect">
            <a:avLst/>
          </a:prstGeom>
          <a:solidFill>
            <a:srgbClr val="163E75"/>
          </a:solidFill>
          <a:ln w="12700">
            <a:solidFill>
              <a:srgbClr val="2D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C4FF"/>
                </a:solidFill>
              </a:rPr>
              <a:t>운영 메모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6949440" cy="365760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항목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5544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값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92807"/>
            <a:ext cx="6949440" cy="365760"/>
          </a:xfrm>
          <a:prstGeom prst="rect">
            <a:avLst/>
          </a:prstGeom>
          <a:solidFill>
            <a:srgbClr val="1A4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38527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Macro 갱신 주기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938527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E2AF"/>
                </a:solidFill>
              </a:rPr>
              <a:t>매일 01:00 KST (APScheduler)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276856"/>
            <a:ext cx="6949440" cy="365760"/>
          </a:xfrm>
          <a:prstGeom prst="rect">
            <a:avLst/>
          </a:prstGeom>
          <a:solidFill>
            <a:srgbClr val="1A4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322575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Macro 캐시 TTL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322575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E2AF"/>
                </a:solidFill>
              </a:rPr>
              <a:t>Redis 25h + 메모리 무제한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660903"/>
            <a:ext cx="6949440" cy="365760"/>
          </a:xfrm>
          <a:prstGeom prst="rect">
            <a:avLst/>
          </a:prstGeom>
          <a:solidFill>
            <a:srgbClr val="1A4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706623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Notification 트리거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706623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E2AF"/>
                </a:solidFill>
              </a:rPr>
              <a:t>LLM 분석 저장 직후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044951"/>
            <a:ext cx="6949440" cy="365760"/>
          </a:xfrm>
          <a:prstGeom prst="rect">
            <a:avLst/>
          </a:prstGeom>
          <a:solidFill>
            <a:srgbClr val="1A4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09067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SSE 워커 호환성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090671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E2AF"/>
                </a:solidFill>
              </a:rPr>
              <a:t>단일 워커 전제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428999"/>
            <a:ext cx="6949440" cy="365760"/>
          </a:xfrm>
          <a:prstGeom prst="rect">
            <a:avLst/>
          </a:prstGeom>
          <a:solidFill>
            <a:srgbClr val="1A4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47471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매크로 지표 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474719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E2AF"/>
                </a:solidFill>
              </a:rPr>
              <a:t>13종 (FRED 1순위 + Yahoo 폴백)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813048"/>
            <a:ext cx="6949440" cy="365760"/>
          </a:xfrm>
          <a:prstGeom prst="rect">
            <a:avLst/>
          </a:prstGeom>
          <a:solidFill>
            <a:srgbClr val="1A4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8587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FOMC 충돌 처리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385876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E2AF"/>
                </a:solidFill>
              </a:rPr>
              <a:t>(country, date) 1건 collapse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197096"/>
            <a:ext cx="6949440" cy="365760"/>
          </a:xfrm>
          <a:prstGeom prst="rect">
            <a:avLst/>
          </a:prstGeom>
          <a:solidFill>
            <a:srgbClr val="1A4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24281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Title 충돌 처리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424281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E2AF"/>
                </a:solidFill>
              </a:rPr>
              <a:t>윈도우 내 ' (M/D)' suffix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63840" y="1005840"/>
            <a:ext cx="4023360" cy="3657600"/>
          </a:xfrm>
          <a:prstGeom prst="rect">
            <a:avLst/>
          </a:prstGeom>
          <a:solidFill>
            <a:srgbClr val="163E75"/>
          </a:solidFill>
          <a:ln w="12700">
            <a:solidFill>
              <a:srgbClr val="2D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6E3A1"/>
                </a:solidFill>
              </a:rPr>
              <a:t>주요 메트릭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46720" y="1645920"/>
            <a:ext cx="1005840" cy="54864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17373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2B55"/>
                </a:solidFill>
              </a:rPr>
              <a:t>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178308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매크로 지표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720" y="2331720"/>
            <a:ext cx="1005840" cy="54864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0" y="24231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2B55"/>
                </a:solidFill>
              </a:rPr>
              <a:t>25h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2468879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Redis TTL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6720" y="3017520"/>
            <a:ext cx="1005840" cy="54864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0" y="31089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2B55"/>
                </a:solidFill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9720" y="3154679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API 엔드포인트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46720" y="3703320"/>
            <a:ext cx="1005840" cy="548640"/>
          </a:xfrm>
          <a:prstGeom prst="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20" y="3794759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2B55"/>
                </a:solidFill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9720" y="384048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출력 status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846320"/>
            <a:ext cx="11475720" cy="1691640"/>
          </a:xfrm>
          <a:prstGeom prst="rect">
            <a:avLst/>
          </a:prstGeom>
          <a:solidFill>
            <a:srgbClr val="1A4885"/>
          </a:solidFill>
          <a:ln w="12700">
            <a:solidFill>
              <a:srgbClr val="5B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49377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C4FF"/>
                </a:solidFill>
              </a:rPr>
              <a:t>핵심 요약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30352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</a:rPr>
              <a:t>✓ 거시 현황판: 일 1회 LLM 갱신 + 25h 캐시로 즉시 응답, contextual + baseline 듀얼 판단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✓ 경제일정 알림: 영향 분석 저장 시 DB INSERT + SSE 푸시 (저장과 푸시 분리)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✓ 두 기능은 매크로 지표 13종 스냅샷을 공유 → 일관된 시장 톤 + 빠른 분석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✓ 출처는 Antelligen AI 자체 분석으로 일원화, 외부 채널/저자명 노출 금지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